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2" r:id="rId4"/>
    <p:sldId id="259" r:id="rId5"/>
    <p:sldId id="263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4878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12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-781" y="0"/>
            <a:ext cx="3810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6489" y="410245"/>
            <a:ext cx="976312" cy="2286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00" dirty="0">
                <a:solidFill>
                  <a:srgbClr val="0D1B2A"/>
                </a:solidFill>
                <a:highlight>
                  <a:srgbClr val="00B4D8"/>
                </a:highlight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CS336 – AIML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365745" y="968588"/>
            <a:ext cx="5019055" cy="6031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77"/>
              </a:lnSpc>
              <a:buNone/>
            </a:pP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365745" y="1511662"/>
            <a:ext cx="5069008" cy="60311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77"/>
              </a:lnSpc>
              <a:buNone/>
            </a:pP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365485" y="2571638"/>
            <a:ext cx="4667250" cy="2333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36"/>
              </a:lnSpc>
              <a:buNone/>
            </a:pPr>
            <a:r>
              <a:rPr lang="en-US" sz="1200" i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Predicting logistics delays and recommending actions using ML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6713" y="2931765"/>
            <a:ext cx="8410575" cy="4763"/>
          </a:xfrm>
          <a:prstGeom prst="rect">
            <a:avLst/>
          </a:prstGeom>
          <a:solidFill>
            <a:srgbClr val="00B4D8">
              <a:alpha val="3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66303" y="3085244"/>
            <a:ext cx="4514850" cy="2143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74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Pratyush Munda</a:t>
            </a: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(Btech/10600/23) | </a:t>
            </a: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Urvil Kalal</a:t>
            </a: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(Btech/10767/23)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224" y="3498540"/>
            <a:ext cx="2381250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i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github.com/PratyushMunda/AIML-Project-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369759" y="4772174"/>
            <a:ext cx="409575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CSE (C)</a:t>
            </a:r>
            <a:endParaRPr lang="en-US" sz="8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4D9D725-B2DE-0C47-E7CE-A35D579C09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224" y="1046609"/>
            <a:ext cx="5016001" cy="1068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6F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446"/>
            <a:ext cx="9144000" cy="719137"/>
          </a:xfrm>
          <a:prstGeom prst="rect">
            <a:avLst/>
          </a:prstGeom>
          <a:solidFill>
            <a:srgbClr val="0D1B2A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2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Introduction &amp; Applications                                                                                           </a:t>
            </a:r>
            <a:r>
              <a:rPr lang="en-US" sz="1800" b="1" dirty="0">
                <a:solidFill>
                  <a:srgbClr val="00B4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720961"/>
            <a:ext cx="9144000" cy="2381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365782" y="926790"/>
            <a:ext cx="4114800" cy="4010025"/>
          </a:xfrm>
          <a:prstGeom prst="roundRect">
            <a:avLst>
              <a:gd name="adj" fmla="val 108"/>
            </a:avLst>
          </a:prstGeom>
          <a:solidFill>
            <a:srgbClr val="FFFFFF"/>
          </a:solidFill>
          <a:ln w="4763">
            <a:solidFill>
              <a:srgbClr val="D8E4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0545" y="930548"/>
            <a:ext cx="4105275" cy="385763"/>
          </a:xfrm>
          <a:prstGeom prst="rect">
            <a:avLst/>
          </a:prstGeom>
          <a:solidFill>
            <a:srgbClr val="EBF4FA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58"/>
              </a:lnSpc>
              <a:buNone/>
            </a:pPr>
            <a:r>
              <a:rPr lang="en-US" sz="900" b="1" dirty="0">
                <a:solidFill>
                  <a:srgbClr val="0D1B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PROBLEM UNDERSTANDING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34963" y="1470273"/>
            <a:ext cx="61912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8"/>
              </a:lnSpc>
              <a:buNone/>
            </a:pPr>
            <a:r>
              <a:rPr lang="en-US" sz="900" dirty="0">
                <a:solidFill>
                  <a:srgbClr val="00B4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–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0024" y="1470273"/>
            <a:ext cx="3476625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8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Delays detected only after occurrence — reactive approach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4963" y="1768525"/>
            <a:ext cx="61912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8"/>
              </a:lnSpc>
              <a:buNone/>
            </a:pPr>
            <a:r>
              <a:rPr lang="en-US" sz="900" dirty="0">
                <a:solidFill>
                  <a:srgbClr val="00B4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–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69354" y="1768525"/>
            <a:ext cx="2938463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8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system to flag high-risk orders before dispatch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34963" y="2066776"/>
            <a:ext cx="61912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8"/>
              </a:lnSpc>
              <a:buNone/>
            </a:pPr>
            <a:r>
              <a:rPr lang="en-US" sz="900" dirty="0">
                <a:solidFill>
                  <a:srgbClr val="00B4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–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70024" y="2066776"/>
            <a:ext cx="2767013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8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tracking across 7 suppliers not scalable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34851" y="2365325"/>
            <a:ext cx="3776662" cy="4763"/>
          </a:xfrm>
          <a:prstGeom prst="rect">
            <a:avLst/>
          </a:prstGeom>
          <a:solidFill>
            <a:srgbClr val="D8E4EE"/>
          </a:solidFill>
          <a:ln/>
        </p:spPr>
      </p:sp>
      <p:sp>
        <p:nvSpPr>
          <p:cNvPr id="14" name="Shape 12"/>
          <p:cNvSpPr/>
          <p:nvPr/>
        </p:nvSpPr>
        <p:spPr>
          <a:xfrm>
            <a:off x="534851" y="2483458"/>
            <a:ext cx="3776662" cy="566738"/>
          </a:xfrm>
          <a:prstGeom prst="rect">
            <a:avLst/>
          </a:prstGeom>
          <a:ln/>
        </p:spPr>
      </p:sp>
      <p:sp>
        <p:nvSpPr>
          <p:cNvPr id="15" name="Text 13"/>
          <p:cNvSpPr/>
          <p:nvPr/>
        </p:nvSpPr>
        <p:spPr>
          <a:xfrm>
            <a:off x="658750" y="2482900"/>
            <a:ext cx="3652838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8"/>
              </a:lnSpc>
              <a:spcAft>
                <a:spcPts val="203"/>
              </a:spcAft>
              <a:buNone/>
            </a:pPr>
            <a:r>
              <a:rPr lang="en-US" sz="900" b="1" dirty="0">
                <a:solidFill>
                  <a:srgbClr val="0D1B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Solution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58750" y="2693640"/>
            <a:ext cx="3652838" cy="3571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 delay probability per order and prescribe corrective action — automatically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34851" y="3163825"/>
            <a:ext cx="3776662" cy="566738"/>
          </a:xfrm>
          <a:prstGeom prst="rect">
            <a:avLst/>
          </a:prstGeom>
          <a:ln/>
        </p:spPr>
      </p:sp>
      <p:sp>
        <p:nvSpPr>
          <p:cNvPr id="18" name="Text 16"/>
          <p:cNvSpPr/>
          <p:nvPr/>
        </p:nvSpPr>
        <p:spPr>
          <a:xfrm>
            <a:off x="658750" y="3163267"/>
            <a:ext cx="3652838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8"/>
              </a:lnSpc>
              <a:spcAft>
                <a:spcPts val="203"/>
              </a:spcAft>
              <a:buNone/>
            </a:pPr>
            <a:r>
              <a:rPr lang="en-US" sz="900" b="1" dirty="0">
                <a:solidFill>
                  <a:srgbClr val="0D1B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8750" y="3374008"/>
            <a:ext cx="3652838" cy="3571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Binary classification using Random Forest on 750 historical orders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92" y="926790"/>
            <a:ext cx="4114800" cy="4010025"/>
          </a:xfrm>
          <a:prstGeom prst="roundRect">
            <a:avLst>
              <a:gd name="adj" fmla="val 108"/>
            </a:avLst>
          </a:prstGeom>
          <a:solidFill>
            <a:srgbClr val="FFFFFF"/>
          </a:solidFill>
          <a:ln w="4763">
            <a:solidFill>
              <a:srgbClr val="D8E4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8255" y="930548"/>
            <a:ext cx="4105275" cy="385763"/>
          </a:xfrm>
          <a:prstGeom prst="rect">
            <a:avLst/>
          </a:prstGeom>
          <a:solidFill>
            <a:srgbClr val="0D1B2A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5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WHERE IT'S USED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06367" y="1445009"/>
            <a:ext cx="3829050" cy="528638"/>
          </a:xfrm>
          <a:prstGeom prst="roundRect">
            <a:avLst>
              <a:gd name="adj" fmla="val 6233"/>
            </a:avLst>
          </a:prstGeom>
          <a:solidFill>
            <a:srgbClr val="F5FAFE"/>
          </a:solidFill>
          <a:ln w="4763">
            <a:solidFill>
              <a:srgbClr val="D8E4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20667" y="1526456"/>
            <a:ext cx="3600450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8"/>
              </a:lnSpc>
              <a:spcAft>
                <a:spcPts val="122"/>
              </a:spcAft>
              <a:buNone/>
            </a:pPr>
            <a:r>
              <a:rPr lang="en-US" sz="900" b="1" dirty="0">
                <a:solidFill>
                  <a:srgbClr val="0D1B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E-Commerce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20667" y="1726257"/>
            <a:ext cx="3600450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Reroute at-risk shipments before dispatch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806367" y="2066441"/>
            <a:ext cx="3829050" cy="528638"/>
          </a:xfrm>
          <a:prstGeom prst="roundRect">
            <a:avLst>
              <a:gd name="adj" fmla="val 6233"/>
            </a:avLst>
          </a:prstGeom>
          <a:solidFill>
            <a:srgbClr val="F5FAFE"/>
          </a:solidFill>
          <a:ln w="4763">
            <a:solidFill>
              <a:srgbClr val="D8E4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20667" y="2147887"/>
            <a:ext cx="3600450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8"/>
              </a:lnSpc>
              <a:spcAft>
                <a:spcPts val="122"/>
              </a:spcAft>
              <a:buNone/>
            </a:pPr>
            <a:r>
              <a:rPr lang="en-US" sz="900" b="1" dirty="0">
                <a:solidFill>
                  <a:srgbClr val="0D1B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Manufacturing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20667" y="2347689"/>
            <a:ext cx="3600450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 JIT inventory from supplier delays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806367" y="2687873"/>
            <a:ext cx="3829050" cy="528638"/>
          </a:xfrm>
          <a:prstGeom prst="roundRect">
            <a:avLst>
              <a:gd name="adj" fmla="val 6233"/>
            </a:avLst>
          </a:prstGeom>
          <a:solidFill>
            <a:srgbClr val="F5FAFE"/>
          </a:solidFill>
          <a:ln w="4763">
            <a:solidFill>
              <a:srgbClr val="D8E4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20667" y="2769319"/>
            <a:ext cx="3600450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8"/>
              </a:lnSpc>
              <a:spcAft>
                <a:spcPts val="122"/>
              </a:spcAft>
              <a:buNone/>
            </a:pPr>
            <a:r>
              <a:rPr lang="en-US" sz="900" b="1" dirty="0">
                <a:solidFill>
                  <a:srgbClr val="0D1B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Healthcare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20667" y="2969121"/>
            <a:ext cx="3600450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 critical supplies never miss delivery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806367" y="3309305"/>
            <a:ext cx="3829050" cy="528638"/>
          </a:xfrm>
          <a:prstGeom prst="roundRect">
            <a:avLst>
              <a:gd name="adj" fmla="val 6233"/>
            </a:avLst>
          </a:prstGeom>
          <a:solidFill>
            <a:srgbClr val="F5FAFE"/>
          </a:solidFill>
          <a:ln w="4763">
            <a:solidFill>
              <a:srgbClr val="D8E4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20667" y="3390751"/>
            <a:ext cx="3600450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8"/>
              </a:lnSpc>
              <a:spcAft>
                <a:spcPts val="122"/>
              </a:spcAft>
              <a:buNone/>
            </a:pPr>
            <a:r>
              <a:rPr lang="en-US" sz="900" b="1" dirty="0">
                <a:solidFill>
                  <a:srgbClr val="0D1B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Retail &amp; FMCG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20667" y="3590553"/>
            <a:ext cx="3600450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Prevent stockouts during peak demand periods</a:t>
            </a:r>
            <a:endParaRPr lang="en-US" sz="800" dirty="0"/>
          </a:p>
        </p:txBody>
      </p:sp>
      <p:pic>
        <p:nvPicPr>
          <p:cNvPr id="3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0545" y="930548"/>
            <a:ext cx="4105275" cy="385763"/>
          </a:xfrm>
          <a:prstGeom prst="rect">
            <a:avLst/>
          </a:prstGeom>
        </p:spPr>
      </p:pic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4851" y="2483458"/>
            <a:ext cx="3776662" cy="566738"/>
          </a:xfrm>
          <a:prstGeom prst="rect">
            <a:avLst/>
          </a:prstGeom>
        </p:spPr>
      </p:pic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4851" y="3163825"/>
            <a:ext cx="3776662" cy="5667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3.jpg">
            <a:extLst>
              <a:ext uri="{FF2B5EF4-FFF2-40B4-BE49-F238E27FC236}">
                <a16:creationId xmlns:a16="http://schemas.microsoft.com/office/drawing/2014/main" id="{DD211D21-C8A5-1B43-D3E3-F42D3A418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772" cy="51435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395AD5A-F80F-14FD-E542-0C06CB3F6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4687" y="4650367"/>
            <a:ext cx="815340" cy="274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081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6F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446"/>
            <a:ext cx="9144000" cy="719137"/>
          </a:xfrm>
          <a:prstGeom prst="rect">
            <a:avLst/>
          </a:prstGeom>
          <a:solidFill>
            <a:srgbClr val="0D1B2A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2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Model Architecture &amp; Working                                                                                    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720961"/>
            <a:ext cx="9144000" cy="2381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365336" y="926716"/>
            <a:ext cx="1438275" cy="1695450"/>
          </a:xfrm>
          <a:prstGeom prst="roundRect">
            <a:avLst>
              <a:gd name="adj" fmla="val 842"/>
            </a:avLst>
          </a:prstGeom>
          <a:solidFill>
            <a:srgbClr val="0D1B2A"/>
          </a:solidFill>
          <a:ln w="4763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9673" y="1276722"/>
            <a:ext cx="609600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96"/>
              </a:lnSpc>
              <a:spcAft>
                <a:spcPts val="405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Input Layer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93948" y="1494272"/>
            <a:ext cx="781050" cy="7762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24"/>
              </a:lnSpc>
              <a:buNone/>
            </a:pPr>
            <a:r>
              <a:rPr lang="en-US" sz="7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order_value</a:t>
            </a:r>
            <a:endParaRPr lang="en-US" sz="700" dirty="0"/>
          </a:p>
          <a:p>
            <a:pPr marL="0" indent="0" algn="ctr">
              <a:lnSpc>
                <a:spcPts val="1224"/>
              </a:lnSpc>
              <a:buNone/>
            </a:pPr>
            <a:r>
              <a:rPr lang="en-US" sz="7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supplier_id</a:t>
            </a:r>
            <a:endParaRPr lang="en-US" sz="700" dirty="0"/>
          </a:p>
          <a:p>
            <a:pPr marL="0" indent="0" algn="ctr">
              <a:lnSpc>
                <a:spcPts val="1224"/>
              </a:lnSpc>
              <a:buNone/>
            </a:pPr>
            <a:r>
              <a:rPr lang="en-US" sz="7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market_segment</a:t>
            </a:r>
            <a:endParaRPr lang="en-US" sz="700" dirty="0"/>
          </a:p>
          <a:p>
            <a:pPr marL="0" indent="0" algn="ctr">
              <a:lnSpc>
                <a:spcPts val="1224"/>
              </a:lnSpc>
              <a:buNone/>
            </a:pPr>
            <a:r>
              <a:rPr lang="en-US" sz="7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satisfaction_score</a:t>
            </a:r>
            <a:endParaRPr lang="en-US" sz="700" dirty="0"/>
          </a:p>
          <a:p>
            <a:pPr marL="0" indent="0" algn="ctr">
              <a:lnSpc>
                <a:spcPts val="1224"/>
              </a:lnSpc>
              <a:buNone/>
            </a:pPr>
            <a:r>
              <a:rPr lang="en-US" sz="7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lead_time_days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849301" y="1636328"/>
            <a:ext cx="152400" cy="2762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400" dirty="0">
                <a:solidFill>
                  <a:srgbClr val="00B4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047391" y="926716"/>
            <a:ext cx="1438275" cy="1695450"/>
          </a:xfrm>
          <a:prstGeom prst="roundRect">
            <a:avLst>
              <a:gd name="adj" fmla="val 842"/>
            </a:avLst>
          </a:prstGeom>
          <a:solidFill>
            <a:srgbClr val="FFFFFF"/>
          </a:solidFill>
          <a:ln w="4763">
            <a:solidFill>
              <a:srgbClr val="D8E4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35498" y="1354485"/>
            <a:ext cx="661987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96"/>
              </a:lnSpc>
              <a:spcAft>
                <a:spcPts val="405"/>
              </a:spcAft>
              <a:buNone/>
            </a:pPr>
            <a:r>
              <a:rPr lang="en-US" sz="800" b="1" dirty="0">
                <a:solidFill>
                  <a:srgbClr val="0D1B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Feature Eng.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414104" y="1570509"/>
            <a:ext cx="704850" cy="6238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24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One-hot encode</a:t>
            </a:r>
            <a:endParaRPr lang="en-US" sz="700" dirty="0"/>
          </a:p>
          <a:p>
            <a:pPr marL="0" indent="0" algn="ctr">
              <a:lnSpc>
                <a:spcPts val="1224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 → interval</a:t>
            </a:r>
            <a:endParaRPr lang="en-US" sz="700" dirty="0"/>
          </a:p>
          <a:p>
            <a:pPr marL="0" indent="0" algn="ctr">
              <a:lnSpc>
                <a:spcPts val="1224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Binary label</a:t>
            </a:r>
            <a:endParaRPr lang="en-US" sz="700" dirty="0"/>
          </a:p>
          <a:p>
            <a:pPr marL="0" indent="0" algn="ctr">
              <a:lnSpc>
                <a:spcPts val="1224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80/20 split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531357" y="1636328"/>
            <a:ext cx="152400" cy="2762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400" dirty="0">
                <a:solidFill>
                  <a:srgbClr val="00B4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729038" y="926716"/>
            <a:ext cx="1685925" cy="1695450"/>
          </a:xfrm>
          <a:prstGeom prst="roundRect">
            <a:avLst>
              <a:gd name="adj" fmla="val 613"/>
            </a:avLst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4174331" y="1354485"/>
            <a:ext cx="795338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96"/>
              </a:lnSpc>
              <a:spcAft>
                <a:spcPts val="405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Random Forest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231444" y="1570509"/>
            <a:ext cx="681038" cy="6238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24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200 trees</a:t>
            </a:r>
            <a:endParaRPr lang="en-US" sz="700" dirty="0"/>
          </a:p>
          <a:p>
            <a:pPr marL="0" indent="0" algn="ctr">
              <a:lnSpc>
                <a:spcPts val="1224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max_depth = 10</a:t>
            </a:r>
            <a:endParaRPr lang="en-US" sz="700" dirty="0"/>
          </a:p>
          <a:p>
            <a:pPr marL="0" indent="0" algn="ctr">
              <a:lnSpc>
                <a:spcPts val="1224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Majority vote</a:t>
            </a:r>
            <a:endParaRPr lang="en-US" sz="700" dirty="0"/>
          </a:p>
          <a:p>
            <a:pPr marL="0" indent="0" algn="ctr">
              <a:lnSpc>
                <a:spcPts val="1224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scikit-learn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460243" y="1636328"/>
            <a:ext cx="152400" cy="2762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400" dirty="0">
                <a:solidFill>
                  <a:srgbClr val="00B4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58334" y="926716"/>
            <a:ext cx="1438275" cy="1695450"/>
          </a:xfrm>
          <a:prstGeom prst="roundRect">
            <a:avLst>
              <a:gd name="adj" fmla="val 842"/>
            </a:avLst>
          </a:prstGeom>
          <a:solidFill>
            <a:srgbClr val="FFFFFF"/>
          </a:solidFill>
          <a:ln w="4763">
            <a:solidFill>
              <a:srgbClr val="D8E4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03627" y="1354485"/>
            <a:ext cx="547687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96"/>
              </a:lnSpc>
              <a:spcAft>
                <a:spcPts val="405"/>
              </a:spcAft>
              <a:buNone/>
            </a:pPr>
            <a:r>
              <a:rPr lang="en-US" sz="800" b="1" dirty="0">
                <a:solidFill>
                  <a:srgbClr val="0D1B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Risk Score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975003" y="1570509"/>
            <a:ext cx="804862" cy="6238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24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Prob. 0–1</a:t>
            </a:r>
            <a:endParaRPr lang="en-US" sz="700" dirty="0"/>
          </a:p>
          <a:p>
            <a:pPr marL="0" indent="0" algn="ctr">
              <a:lnSpc>
                <a:spcPts val="1224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&gt; 0.70</a:t>
            </a:r>
            <a:endParaRPr lang="en-US" sz="700" dirty="0"/>
          </a:p>
          <a:p>
            <a:pPr marL="0" indent="0" algn="ctr">
              <a:lnSpc>
                <a:spcPts val="1224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 0.40–0.70</a:t>
            </a:r>
            <a:endParaRPr lang="en-US" sz="700" dirty="0"/>
          </a:p>
          <a:p>
            <a:pPr marL="0" indent="0" algn="ctr">
              <a:lnSpc>
                <a:spcPts val="1224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&lt; 0.40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142299" y="1636328"/>
            <a:ext cx="152400" cy="2762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400" dirty="0">
                <a:solidFill>
                  <a:srgbClr val="00B4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40389" y="926716"/>
            <a:ext cx="1438275" cy="1695450"/>
          </a:xfrm>
          <a:prstGeom prst="roundRect">
            <a:avLst>
              <a:gd name="adj" fmla="val 842"/>
            </a:avLst>
          </a:prstGeom>
          <a:solidFill>
            <a:srgbClr val="0D1B2A"/>
          </a:solidFill>
          <a:ln w="4763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92814" y="1354485"/>
            <a:ext cx="733425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96"/>
              </a:lnSpc>
              <a:spcAft>
                <a:spcPts val="405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Action Engine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783264" y="1570509"/>
            <a:ext cx="552450" cy="6238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24"/>
              </a:lnSpc>
              <a:buNone/>
            </a:pPr>
            <a:r>
              <a:rPr lang="en-US" sz="7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P1 Expedite</a:t>
            </a:r>
            <a:endParaRPr lang="en-US" sz="700" dirty="0"/>
          </a:p>
          <a:p>
            <a:pPr marL="0" indent="0" algn="ctr">
              <a:lnSpc>
                <a:spcPts val="1224"/>
              </a:lnSpc>
              <a:buNone/>
            </a:pPr>
            <a:r>
              <a:rPr lang="en-US" sz="7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P2 Monitor</a:t>
            </a:r>
            <a:endParaRPr lang="en-US" sz="700" dirty="0"/>
          </a:p>
          <a:p>
            <a:pPr marL="0" indent="0" algn="ctr">
              <a:lnSpc>
                <a:spcPts val="1224"/>
              </a:lnSpc>
              <a:buNone/>
            </a:pPr>
            <a:r>
              <a:rPr lang="en-US" sz="7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P3 No action</a:t>
            </a:r>
            <a:endParaRPr lang="en-US" sz="700" dirty="0"/>
          </a:p>
          <a:p>
            <a:pPr marL="0" indent="0" algn="ctr">
              <a:lnSpc>
                <a:spcPts val="1224"/>
              </a:lnSpc>
              <a:buNone/>
            </a:pPr>
            <a:r>
              <a:rPr lang="en-US" sz="7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 CSV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65782" y="2751720"/>
            <a:ext cx="4114800" cy="2185988"/>
          </a:xfrm>
          <a:prstGeom prst="roundRect">
            <a:avLst>
              <a:gd name="adj" fmla="val 365"/>
            </a:avLst>
          </a:prstGeom>
          <a:solidFill>
            <a:srgbClr val="FFFFFF"/>
          </a:solidFill>
          <a:ln w="4763">
            <a:solidFill>
              <a:srgbClr val="D8E4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0545" y="2755478"/>
            <a:ext cx="4105275" cy="361950"/>
          </a:xfrm>
          <a:prstGeom prst="rect">
            <a:avLst/>
          </a:prstGeom>
          <a:solidFill>
            <a:srgbClr val="EBF4FA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b="1" dirty="0">
                <a:solidFill>
                  <a:srgbClr val="0D1B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RANDOM FOREST?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33884" y="3207990"/>
            <a:ext cx="57150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dirty="0">
                <a:solidFill>
                  <a:srgbClr val="00B4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–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52835" y="3207990"/>
            <a:ext cx="3371850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Handles mixed features (numerical + categorical) without scaling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33884" y="3439418"/>
            <a:ext cx="57150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dirty="0">
                <a:solidFill>
                  <a:srgbClr val="00B4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–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52723" y="3439418"/>
            <a:ext cx="2376487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Robust to outliers in order value and lead time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33884" y="3670846"/>
            <a:ext cx="57150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dirty="0">
                <a:solidFill>
                  <a:srgbClr val="00B4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–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53169" y="3670846"/>
            <a:ext cx="2995613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Built-in feature importance — transparent and explainable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33884" y="3902273"/>
            <a:ext cx="57150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dirty="0">
                <a:solidFill>
                  <a:srgbClr val="00B4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–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53318" y="3902273"/>
            <a:ext cx="2957513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Outperformed Linear Regression and SVR on this dataset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663492" y="2751720"/>
            <a:ext cx="4114800" cy="2185988"/>
          </a:xfrm>
          <a:prstGeom prst="roundRect">
            <a:avLst>
              <a:gd name="adj" fmla="val 365"/>
            </a:avLst>
          </a:prstGeom>
          <a:solidFill>
            <a:srgbClr val="FFFFFF"/>
          </a:solidFill>
          <a:ln w="4763">
            <a:solidFill>
              <a:srgbClr val="D8E4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8255" y="2755478"/>
            <a:ext cx="4105275" cy="361950"/>
          </a:xfrm>
          <a:prstGeom prst="rect">
            <a:avLst/>
          </a:prstGeom>
          <a:solidFill>
            <a:srgbClr val="EBF4FA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b="1" dirty="0">
                <a:solidFill>
                  <a:srgbClr val="0D1B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TOP FEATURE IMPORTANCE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831779" y="3209292"/>
            <a:ext cx="1190625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2"/>
              </a:lnSpc>
              <a:buNone/>
            </a:pPr>
            <a:r>
              <a:rPr lang="en-US" sz="8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lead_time_days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113673" y="3242593"/>
            <a:ext cx="2128838" cy="90488"/>
          </a:xfrm>
          <a:prstGeom prst="roundRect">
            <a:avLst>
              <a:gd name="adj" fmla="val 53185"/>
            </a:avLst>
          </a:prstGeom>
          <a:solidFill>
            <a:srgbClr val="EBF4FA"/>
          </a:solidFill>
          <a:ln/>
        </p:spPr>
      </p:sp>
      <p:sp>
        <p:nvSpPr>
          <p:cNvPr id="38" name="Shape 36"/>
          <p:cNvSpPr/>
          <p:nvPr/>
        </p:nvSpPr>
        <p:spPr>
          <a:xfrm>
            <a:off x="6113041" y="3242593"/>
            <a:ext cx="1533525" cy="904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9" name="Text 37"/>
          <p:cNvSpPr/>
          <p:nvPr/>
        </p:nvSpPr>
        <p:spPr>
          <a:xfrm>
            <a:off x="8333780" y="3211637"/>
            <a:ext cx="276225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88"/>
              </a:lnSpc>
              <a:buNone/>
            </a:pPr>
            <a:r>
              <a:rPr lang="en-US" sz="700" b="1" dirty="0">
                <a:solidFill>
                  <a:srgbClr val="0D1B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0.72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831779" y="3444069"/>
            <a:ext cx="1190625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2"/>
              </a:lnSpc>
              <a:buNone/>
            </a:pPr>
            <a:r>
              <a:rPr lang="en-US" sz="8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order_value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113673" y="3477369"/>
            <a:ext cx="2128838" cy="90488"/>
          </a:xfrm>
          <a:prstGeom prst="roundRect">
            <a:avLst>
              <a:gd name="adj" fmla="val 53185"/>
            </a:avLst>
          </a:prstGeom>
          <a:solidFill>
            <a:srgbClr val="EBF4FA"/>
          </a:solidFill>
          <a:ln/>
        </p:spPr>
      </p:sp>
      <p:sp>
        <p:nvSpPr>
          <p:cNvPr id="42" name="Shape 40"/>
          <p:cNvSpPr/>
          <p:nvPr/>
        </p:nvSpPr>
        <p:spPr>
          <a:xfrm>
            <a:off x="6113525" y="3477369"/>
            <a:ext cx="957263" cy="90488"/>
          </a:xfrm>
          <a:prstGeom prst="rect">
            <a:avLst/>
          </a:prstGeom>
          <a:solidFill>
            <a:srgbClr val="0077A8"/>
          </a:solidFill>
          <a:ln/>
        </p:spPr>
      </p:sp>
      <p:sp>
        <p:nvSpPr>
          <p:cNvPr id="43" name="Text 41"/>
          <p:cNvSpPr/>
          <p:nvPr/>
        </p:nvSpPr>
        <p:spPr>
          <a:xfrm>
            <a:off x="8333780" y="3446413"/>
            <a:ext cx="276225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88"/>
              </a:lnSpc>
              <a:buNone/>
            </a:pPr>
            <a:r>
              <a:rPr lang="en-US" sz="700" b="1" dirty="0">
                <a:solidFill>
                  <a:srgbClr val="0D1B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0.45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4831779" y="3678845"/>
            <a:ext cx="1190625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2"/>
              </a:lnSpc>
              <a:buNone/>
            </a:pPr>
            <a:r>
              <a:rPr lang="en-US" sz="8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supplier_id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113673" y="3712146"/>
            <a:ext cx="2128838" cy="90488"/>
          </a:xfrm>
          <a:prstGeom prst="roundRect">
            <a:avLst>
              <a:gd name="adj" fmla="val 53185"/>
            </a:avLst>
          </a:prstGeom>
          <a:solidFill>
            <a:srgbClr val="EBF4FA"/>
          </a:solidFill>
          <a:ln/>
        </p:spPr>
      </p:sp>
      <p:sp>
        <p:nvSpPr>
          <p:cNvPr id="46" name="Shape 44"/>
          <p:cNvSpPr/>
          <p:nvPr/>
        </p:nvSpPr>
        <p:spPr>
          <a:xfrm>
            <a:off x="6113301" y="3712146"/>
            <a:ext cx="638175" cy="90488"/>
          </a:xfrm>
          <a:prstGeom prst="rect">
            <a:avLst/>
          </a:prstGeom>
          <a:solidFill>
            <a:srgbClr val="0077A8"/>
          </a:solidFill>
          <a:ln/>
        </p:spPr>
      </p:sp>
      <p:sp>
        <p:nvSpPr>
          <p:cNvPr id="47" name="Text 45"/>
          <p:cNvSpPr/>
          <p:nvPr/>
        </p:nvSpPr>
        <p:spPr>
          <a:xfrm>
            <a:off x="8333780" y="3681189"/>
            <a:ext cx="276225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88"/>
              </a:lnSpc>
              <a:buNone/>
            </a:pPr>
            <a:r>
              <a:rPr lang="en-US" sz="700" b="1" dirty="0">
                <a:solidFill>
                  <a:srgbClr val="0D1B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0.30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4831779" y="3913622"/>
            <a:ext cx="1190625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2"/>
              </a:lnSpc>
              <a:buNone/>
            </a:pPr>
            <a:r>
              <a:rPr lang="en-US" sz="8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market_segment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113673" y="3946922"/>
            <a:ext cx="2128838" cy="90488"/>
          </a:xfrm>
          <a:prstGeom prst="roundRect">
            <a:avLst>
              <a:gd name="adj" fmla="val 53185"/>
            </a:avLst>
          </a:prstGeom>
          <a:solidFill>
            <a:srgbClr val="EBF4FA"/>
          </a:solidFill>
          <a:ln/>
        </p:spPr>
      </p:sp>
      <p:sp>
        <p:nvSpPr>
          <p:cNvPr id="50" name="Shape 48"/>
          <p:cNvSpPr/>
          <p:nvPr/>
        </p:nvSpPr>
        <p:spPr>
          <a:xfrm>
            <a:off x="6111664" y="3946922"/>
            <a:ext cx="385763" cy="9048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51" name="Text 49"/>
          <p:cNvSpPr/>
          <p:nvPr/>
        </p:nvSpPr>
        <p:spPr>
          <a:xfrm>
            <a:off x="8333780" y="3915966"/>
            <a:ext cx="276225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88"/>
              </a:lnSpc>
              <a:buNone/>
            </a:pPr>
            <a:r>
              <a:rPr lang="en-US" sz="700" b="1" dirty="0">
                <a:solidFill>
                  <a:srgbClr val="0D1B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0.18</a:t>
            </a:r>
            <a:endParaRPr lang="en-US" sz="700" dirty="0"/>
          </a:p>
        </p:txBody>
      </p:sp>
      <p:pic>
        <p:nvPicPr>
          <p:cNvPr id="5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0545" y="2755478"/>
            <a:ext cx="4105275" cy="361950"/>
          </a:xfrm>
          <a:prstGeom prst="rect">
            <a:avLst/>
          </a:prstGeom>
        </p:spPr>
      </p:pic>
      <p:pic>
        <p:nvPicPr>
          <p:cNvPr id="53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8255" y="2755478"/>
            <a:ext cx="4105275" cy="36195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8BF6B696-9C1C-3E7C-B3AF-F2B1FE4C45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7929" y="157200"/>
            <a:ext cx="577618" cy="4481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5.jpg">
            <a:extLst>
              <a:ext uri="{FF2B5EF4-FFF2-40B4-BE49-F238E27FC236}">
                <a16:creationId xmlns:a16="http://schemas.microsoft.com/office/drawing/2014/main" id="{5F515654-50BD-7F38-CD73-5C1A53755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29"/>
            <a:ext cx="9144000" cy="51436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D9C0F9C-C260-6518-FD1C-16332C99FB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3860" y="4661506"/>
            <a:ext cx="925134" cy="27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96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3546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446"/>
            <a:ext cx="9144000" cy="719137"/>
          </a:xfrm>
          <a:prstGeom prst="rect">
            <a:avLst/>
          </a:prstGeom>
          <a:solidFill>
            <a:srgbClr val="0077A8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2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Ethics, Social Benefits &amp; Demo                                                                                  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720961"/>
            <a:ext cx="9144000" cy="2381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366266" y="926529"/>
            <a:ext cx="3700463" cy="1785938"/>
          </a:xfrm>
          <a:prstGeom prst="roundRect">
            <a:avLst>
              <a:gd name="adj" fmla="val 546"/>
            </a:avLst>
          </a:prstGeom>
          <a:solidFill>
            <a:srgbClr val="FFFFFF">
              <a:alpha val="4000"/>
            </a:srgbClr>
          </a:solidFill>
          <a:ln w="4763">
            <a:solidFill>
              <a:srgbClr val="00B4D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535335" y="1059879"/>
            <a:ext cx="3362325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spcAft>
                <a:spcPts val="729"/>
              </a:spcAft>
              <a:buNone/>
            </a:pPr>
            <a:r>
              <a:rPr lang="en-US" sz="1000" b="1" dirty="0">
                <a:solidFill>
                  <a:srgbClr val="00B4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ETHICAL POINTS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35037" y="1343695"/>
            <a:ext cx="57150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00B4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–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65299" y="1343695"/>
            <a:ext cx="2533650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E2EB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personal data — transactional features only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5037" y="1587103"/>
            <a:ext cx="57150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00B4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–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64666" y="1587103"/>
            <a:ext cx="2600325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E2EB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Transparent model — feature importance visible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35037" y="1830512"/>
            <a:ext cx="57150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00B4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–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65038" y="1830512"/>
            <a:ext cx="2571750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E2EB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75th percentile threshold — objective, bias-free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5037" y="2073920"/>
            <a:ext cx="57150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00B4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–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64146" y="2073920"/>
            <a:ext cx="3033712" cy="22826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6266" y="2816796"/>
            <a:ext cx="3700463" cy="1785938"/>
          </a:xfrm>
          <a:prstGeom prst="roundRect">
            <a:avLst>
              <a:gd name="adj" fmla="val 546"/>
            </a:avLst>
          </a:prstGeom>
          <a:solidFill>
            <a:srgbClr val="FFFFFF">
              <a:alpha val="4000"/>
            </a:srgbClr>
          </a:solidFill>
          <a:ln w="4763">
            <a:solidFill>
              <a:srgbClr val="00B4D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6" name="Text 14"/>
          <p:cNvSpPr/>
          <p:nvPr/>
        </p:nvSpPr>
        <p:spPr>
          <a:xfrm>
            <a:off x="535335" y="2950146"/>
            <a:ext cx="3362325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spcAft>
                <a:spcPts val="729"/>
              </a:spcAft>
              <a:buNone/>
            </a:pPr>
            <a:r>
              <a:rPr lang="en-US" sz="1000" b="1" dirty="0">
                <a:solidFill>
                  <a:srgbClr val="00B4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SOCIAL BENEFITS &amp; CONCLUSIONS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5037" y="3233961"/>
            <a:ext cx="57150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00B4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–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65373" y="3233961"/>
            <a:ext cx="1938337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E2EB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Reduces wasted logistics resources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5037" y="3477369"/>
            <a:ext cx="57150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00B4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–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64778" y="3477369"/>
            <a:ext cx="2290762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E2EB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Improves delivery reliability for consumers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35037" y="3720778"/>
            <a:ext cx="57150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00B4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–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66415" y="3720777"/>
            <a:ext cx="2333625" cy="36284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5037" y="3964186"/>
            <a:ext cx="57150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64332" y="3964186"/>
            <a:ext cx="2590800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249601" y="926306"/>
            <a:ext cx="4529138" cy="3676650"/>
          </a:xfrm>
          <a:prstGeom prst="roundRect">
            <a:avLst>
              <a:gd name="adj" fmla="val 129"/>
            </a:avLst>
          </a:prstGeom>
          <a:solidFill>
            <a:srgbClr val="FFFFFF">
              <a:alpha val="4000"/>
            </a:srgbClr>
          </a:solidFill>
          <a:ln w="4763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54364" y="930548"/>
            <a:ext cx="4519613" cy="385763"/>
          </a:xfrm>
          <a:prstGeom prst="rect">
            <a:avLst/>
          </a:prstGeom>
          <a:solidFill>
            <a:srgbClr val="00B4D8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DEMO — GITHUB LINK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437720" y="1445679"/>
            <a:ext cx="4152900" cy="309562"/>
          </a:xfrm>
          <a:prstGeom prst="roundRect">
            <a:avLst>
              <a:gd name="adj" fmla="val 4544"/>
            </a:avLst>
          </a:prstGeom>
          <a:solidFill>
            <a:srgbClr val="00B4D8">
              <a:alpha val="10000"/>
            </a:srgbClr>
          </a:solidFill>
          <a:ln w="4763">
            <a:solidFill>
              <a:srgbClr val="00B4D8">
                <a:alpha val="30000"/>
              </a:srgbClr>
            </a:solidFill>
            <a:prstDash val="solid"/>
          </a:ln>
        </p:spPr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2131" y="1518196"/>
            <a:ext cx="164529" cy="164529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4807744" y="1512354"/>
            <a:ext cx="2457450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github.com/PratyushMunda/AIML-Project-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436604" y="1861207"/>
            <a:ext cx="166688" cy="166688"/>
          </a:xfrm>
          <a:prstGeom prst="ellipse">
            <a:avLst/>
          </a:prstGeom>
          <a:solidFill>
            <a:srgbClr val="00B4D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72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600" dirty="0"/>
          </a:p>
        </p:txBody>
      </p:sp>
      <p:sp>
        <p:nvSpPr>
          <p:cNvPr id="31" name="Text 28"/>
          <p:cNvSpPr/>
          <p:nvPr/>
        </p:nvSpPr>
        <p:spPr>
          <a:xfrm>
            <a:off x="4711266" y="1858863"/>
            <a:ext cx="2667000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E2EB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Clone repo; install pandas, scikit-learn, matplotlib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4436604" y="2135498"/>
            <a:ext cx="166688" cy="166688"/>
          </a:xfrm>
          <a:prstGeom prst="ellipse">
            <a:avLst/>
          </a:prstGeom>
          <a:solidFill>
            <a:srgbClr val="00B4D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72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600" dirty="0"/>
          </a:p>
        </p:txBody>
      </p:sp>
      <p:sp>
        <p:nvSpPr>
          <p:cNvPr id="33" name="Text 30"/>
          <p:cNvSpPr/>
          <p:nvPr/>
        </p:nvSpPr>
        <p:spPr>
          <a:xfrm>
            <a:off x="4712940" y="2133154"/>
            <a:ext cx="3733800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4436604" y="2409788"/>
            <a:ext cx="166688" cy="166688"/>
          </a:xfrm>
          <a:prstGeom prst="ellipse">
            <a:avLst/>
          </a:prstGeom>
          <a:solidFill>
            <a:srgbClr val="00B4D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72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600" dirty="0"/>
          </a:p>
        </p:txBody>
      </p:sp>
      <p:sp>
        <p:nvSpPr>
          <p:cNvPr id="35" name="Text 32"/>
          <p:cNvSpPr/>
          <p:nvPr/>
        </p:nvSpPr>
        <p:spPr>
          <a:xfrm>
            <a:off x="4711266" y="2407444"/>
            <a:ext cx="3414713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E2EB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Outputs: risk_scored_orders.csv · action_recommendations.csv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4436604" y="2684078"/>
            <a:ext cx="166688" cy="166688"/>
          </a:xfrm>
          <a:prstGeom prst="ellipse">
            <a:avLst/>
          </a:prstGeom>
          <a:solidFill>
            <a:srgbClr val="00B4D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72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600" dirty="0"/>
          </a:p>
        </p:txBody>
      </p:sp>
      <p:sp>
        <p:nvSpPr>
          <p:cNvPr id="37" name="Text 34"/>
          <p:cNvSpPr/>
          <p:nvPr/>
        </p:nvSpPr>
        <p:spPr>
          <a:xfrm>
            <a:off x="4711266" y="2681734"/>
            <a:ext cx="2566988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E2EB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 predict_order_risk() to score any new order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0" y="4705834"/>
            <a:ext cx="9144000" cy="438150"/>
          </a:xfrm>
          <a:prstGeom prst="rect">
            <a:avLst/>
          </a:prstGeom>
          <a:ln/>
        </p:spPr>
      </p:sp>
      <p:sp>
        <p:nvSpPr>
          <p:cNvPr id="39" name="Text 36"/>
          <p:cNvSpPr/>
          <p:nvPr/>
        </p:nvSpPr>
        <p:spPr>
          <a:xfrm>
            <a:off x="2264532" y="4843909"/>
            <a:ext cx="4614863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CS336 AIML · Pratyush Munda (Btech/10600/23) &amp; Urvil Kalal (Btech/10767/23) · CSE (C)</a:t>
            </a:r>
            <a:endParaRPr lang="en-US" sz="800" dirty="0"/>
          </a:p>
        </p:txBody>
      </p:sp>
      <p:pic>
        <p:nvPicPr>
          <p:cNvPr id="40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4705834"/>
            <a:ext cx="9144000" cy="43815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552200ED-0BF3-5C9A-4720-A5063FAAFA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415" y="2101411"/>
            <a:ext cx="2680610" cy="19050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B8EB7DA-D017-EB27-9805-C3F81AF326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146" y="3750105"/>
            <a:ext cx="2290762" cy="310276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286F6D37-AEDD-740B-F1A4-EEFDE0A41F1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1266" y="2151586"/>
            <a:ext cx="3480394" cy="183986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C29862D6-EEA3-7F9D-570A-8FDAD4F0D53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0763" y="78513"/>
            <a:ext cx="693611" cy="5691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388</Words>
  <Application>Microsoft Office PowerPoint</Application>
  <PresentationFormat>On-screen Show (16:9)</PresentationFormat>
  <Paragraphs>104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Inter</vt:lpstr>
      <vt:lpstr>Space Grotesk</vt:lpstr>
      <vt:lpstr>ui-sans-serif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Urvil Kalal</cp:lastModifiedBy>
  <cp:revision>6</cp:revision>
  <dcterms:created xsi:type="dcterms:W3CDTF">2026-03-30T18:00:47Z</dcterms:created>
  <dcterms:modified xsi:type="dcterms:W3CDTF">2026-03-30T19:02:50Z</dcterms:modified>
</cp:coreProperties>
</file>